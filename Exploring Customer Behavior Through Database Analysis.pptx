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Lato Light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LatoLight-bold.fntdata"/><Relationship Id="rId27" Type="http://schemas.openxmlformats.org/officeDocument/2006/relationships/font" Target="fonts/Lato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regular.fntdata"/><Relationship Id="rId30" Type="http://schemas.openxmlformats.org/officeDocument/2006/relationships/font" Target="fonts/LatoLight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PoppinsSemi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0.png"/><Relationship Id="rId7" Type="http://schemas.openxmlformats.org/officeDocument/2006/relationships/image" Target="../media/image11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24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Relationship Id="rId9" Type="http://schemas.openxmlformats.org/officeDocument/2006/relationships/image" Target="../media/image27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31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20328" y="2289869"/>
            <a:ext cx="10751343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9C46A"/>
                </a:solidFill>
                <a:latin typeface="Poppins"/>
                <a:ea typeface="Poppins"/>
                <a:cs typeface="Poppins"/>
                <a:sym typeface="Poppins"/>
              </a:rPr>
              <a:t>Exploring Customer Behavior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234630"/>
            <a:ext cx="7620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0E1DD"/>
                </a:solidFill>
                <a:latin typeface="Lato Light"/>
                <a:ea typeface="Lato Light"/>
                <a:cs typeface="Lato Light"/>
                <a:sym typeface="Lato Light"/>
              </a:rPr>
              <a:t>A Comprehensive SQL Case Study on Database Analysis &amp; Strategic Insight for Online Food Retailers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805237" y="4263330"/>
            <a:ext cx="45815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SUBMITTED BY: ANJALI SINHA (CX-138-MOR-JUNE)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01453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As a Data Analyst, the most compelling task is transforming silent rows of data into a narrative that explains </a:t>
            </a:r>
            <a:r>
              <a:rPr b="0" i="0" lang="en-US" sz="1500" u="none" cap="none" strike="noStrike">
                <a:solidFill>
                  <a:srgbClr val="E9C46A"/>
                </a:solidFill>
                <a:latin typeface="Lato"/>
                <a:ea typeface="Lato"/>
                <a:cs typeface="Lato"/>
                <a:sym typeface="Lato"/>
              </a:rPr>
              <a:t>human behavior</a:t>
            </a: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9289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This project decodes visiting patterns and spending habits to build a deeper connection between brands and customers.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24062"/>
            <a:ext cx="18764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00125" y="372903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Engagement Pattern Analysis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4271962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Menu Preference Profiling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481488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Loyalty Impact Evaluation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671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100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529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Unlocking The Narrative of Data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33700"/>
            <a:ext cx="523875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933700"/>
            <a:ext cx="5238750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962025" y="332422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A9D8F"/>
                </a:solidFill>
                <a:latin typeface="Poppins"/>
                <a:ea typeface="Poppins"/>
                <a:cs typeface="Poppins"/>
                <a:sym typeface="Poppins"/>
              </a:rPr>
              <a:t>Behavioral Analysis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62025" y="360045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Track visit frequencies, identify customer entry points through "first orders," and determine menu popularity between standard and gold members.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772275" y="332422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9C46A"/>
                </a:solidFill>
                <a:latin typeface="Poppins"/>
                <a:ea typeface="Poppins"/>
                <a:cs typeface="Poppins"/>
                <a:sym typeface="Poppins"/>
              </a:rPr>
              <a:t>Financial Optimization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772275" y="360045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Calculate revenue contribution per product, determine Customer Lifetime Value (CLV), and analyze annual growth trends to support operational efficiency.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371850"/>
            <a:ext cx="2190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3371850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Defining Analytical Objectives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571500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Database Schema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15525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The system is built on 5 core integrated tables containing 62 transactional rows and dimensional attributes.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24479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Fact Tables: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000125" y="275272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Sales: Transaction records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31527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Dimension Tables: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000125" y="345757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Product: Catalog &amp; Pricing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000125" y="385762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Users: Registration master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000125" y="425767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Golduser_Signup: Loyalty tracking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08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956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957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9577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1000125" y="2938462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Data Aggregation:</a:t>
            </a: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Leveraging COUNT(), SUM(), and AVG() to summarize workforce and transaction metrics.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000125" y="3490912"/>
            <a:ext cx="10620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Advanced Querying:</a:t>
            </a: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Utilizing Common Table Expressions (CTEs) and Window Functions like RANK() to identify top-performing segments.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000125" y="4348162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Data Transformation:</a:t>
            </a: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Implementing CASE statements and complex JOIN logic to simulate behavior shifts and membership perks.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65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290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862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SQL Methodology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71500" y="50768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Butter Chicken dominates as the primary revenue leader, followed closely by vegetarian anchors.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Product Portfolio Revenue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20145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Identification of high-value offerings reveals a strong preference for North Indian classics among premium members.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240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1000125" y="290988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Shahi Paneer:</a:t>
            </a: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Overall volume leader (8 total orders).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1000125" y="3452812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Dal Makani:</a:t>
            </a: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Most common entry-point product for new users.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000125" y="430053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Premium Tier:</a:t>
            </a: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Shahi Paneer &amp; Dal Makani account for 15 orders within Gold users.</a:t>
            </a:r>
            <a:endParaRPr/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479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4909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338637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Customer "Hero" Products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Loyalty Program Performance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571500" y="2843212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E9C46A"/>
                </a:solidFill>
                <a:latin typeface="Lato"/>
                <a:ea typeface="Lato"/>
                <a:cs typeface="Lato"/>
                <a:sym typeface="Lato"/>
              </a:rPr>
              <a:t>1,510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4176712"/>
            <a:ext cx="5238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Max Spender (Rs.)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571500" y="4691062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User ID 1 (Anshul) leads contribution.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381750" y="2843212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E9C46A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381750" y="4176712"/>
            <a:ext cx="5238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Loyalty Ceiling (Yrs)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381750" y="4691062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Users 7 &amp; 8 show decade-long stability.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Customer Lifetime Value Metrics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0312"/>
            <a:ext cx="349254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00312"/>
            <a:ext cx="349254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00312"/>
            <a:ext cx="3492549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784223" y="3557587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Monetize Habits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857250" y="3833812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Create "Gold Platters" bundling Butter Chicken &amp; Shahi Paneer to increase Average Order Value (AOV).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4562523" y="3557587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Optimize Lifecycle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4635549" y="383381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Use Dal Makani as a "Welcome Voucher" for new signups to bridge the gap to Gold conversion.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8340822" y="3557587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 Expansion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8413849" y="383381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Introduce a "Platinum Tier" for whales (spenders &gt; Rs. 1000) with priority prep and zero delivery fees.</a:t>
            </a:r>
            <a:endParaRPr/>
          </a:p>
        </p:txBody>
      </p:sp>
      <p:pic>
        <p:nvPicPr>
          <p:cNvPr descr="image.png" id="210" name="Google Shape;21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8717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8717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7124" y="28717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Actionable Roadmap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453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6381750" y="27051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Through intensive SQL-based analysis, we successfully transformed transactional data into a </a:t>
            </a:r>
            <a:r>
              <a:rPr b="0" i="0" lang="en-US" sz="1500" u="none" cap="none" strike="noStrike">
                <a:solidFill>
                  <a:srgbClr val="E9C46A"/>
                </a:solidFill>
                <a:latin typeface="Lato"/>
                <a:ea typeface="Lato"/>
                <a:cs typeface="Lato"/>
                <a:sym typeface="Lato"/>
              </a:rPr>
              <a:t>strategic roadmap</a:t>
            </a: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6810375" y="35052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Proved loyalty as a massive revenue anchor.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6810375" y="404812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Identified specific "hook" and "value" products.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6810375" y="459105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Enabled operational readiness for non-technical teams.</a:t>
            </a:r>
            <a:endParaRPr/>
          </a:p>
        </p:txBody>
      </p:sp>
      <p:pic>
        <p:nvPicPr>
          <p:cNvPr descr="image.png" id="225" name="Google Shape;22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5433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0862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62915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Factual Understanding Over Intuition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5775" y="4077592"/>
            <a:ext cx="3600450" cy="84385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3785711" y="1936402"/>
            <a:ext cx="46205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E9C46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2857500" y="3079402"/>
            <a:ext cx="6477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0E1DD"/>
                </a:solidFill>
                <a:latin typeface="Lato Light"/>
                <a:ea typeface="Lato Light"/>
                <a:cs typeface="Lato Light"/>
                <a:sym typeface="Lato Light"/>
              </a:rPr>
              <a:t>Exploring Customer Behavior Through Database Analysis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4295775" y="4372867"/>
            <a:ext cx="3600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Anjali Sinha | Data Analyst Case Study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4295775" y="4677667"/>
            <a:ext cx="36004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SQL Server Management Studio | 2024 Analysis Report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/>
          <p:nvPr/>
        </p:nvSpPr>
        <p:spPr>
          <a:xfrm>
            <a:off x="571500" y="235475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71500" y="313952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71500" y="392430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313000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313000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46995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46995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4" name="Google Shape;25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418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1666875" y="249763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https://cdn.dribbble.com/userupload/19582538/file/original-33d2ebd1cd09396d32d635fa4fdcfbb4.jpg?format=webp&amp;resize=400x300&amp;vertical=center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1666875" y="274334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dribbble.com</a:t>
            </a:r>
            <a:endParaRPr/>
          </a:p>
        </p:txBody>
      </p:sp>
      <p:pic>
        <p:nvPicPr>
          <p:cNvPr descr="image.png" id="257" name="Google Shape;25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889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1666875" y="328240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https://www.conceptdraw.com/How-To-Guide/picture/Entity-Relationship-Diagram-Software-Engineering.png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1666875" y="352811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www.conceptdraw.com</a:t>
            </a:r>
            <a:endParaRPr/>
          </a:p>
        </p:txBody>
      </p:sp>
      <p:pic>
        <p:nvPicPr>
          <p:cNvPr descr="image.png" id="260" name="Google Shape;26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737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1666875" y="406717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https://onestophalal.com/cdn/shop/articles/butter_chicken_and_naan-1701754798038_1200x.jpg?v=1701756090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666875" y="43128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onestophalal.com</a:t>
            </a:r>
            <a:endParaRPr/>
          </a:p>
        </p:txBody>
      </p:sp>
      <p:pic>
        <p:nvPicPr>
          <p:cNvPr descr="image.png" id="263" name="Google Shape;26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584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666875" y="485194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https://thetraceabilityhub.com/wp-content/uploads/2025/09/Gamification-in-Business-updated.png.webp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66875" y="509766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thetraceabilityhub.com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