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275" y="3898552"/>
            <a:ext cx="398145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384" y="2521297"/>
            <a:ext cx="9851231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1E3A8A"/>
                </a:solidFill>
                <a:latin typeface="Plus Jakarta Sans"/>
              </a:rPr>
              <a:t>Executive Sales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298477"/>
            <a:ext cx="8572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A Power BI Dashboard Analysis of Revenue, Profitability, and Customer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19375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40493" y="2895600"/>
            <a:ext cx="8111013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1E3A8A"/>
                </a:solidFill>
                <a:latin typeface="Plus Jakarta Sans"/>
              </a:rPr>
              <a:t>Project Overview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33800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Transforming raw transactional sales data into intuitive visual business intelligence assets for stakeholder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376487"/>
            <a:ext cx="3581400" cy="2981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376487"/>
            <a:ext cx="3581400" cy="2981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376487"/>
            <a:ext cx="3581400" cy="2981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050" y="3281362"/>
            <a:ext cx="314039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Performance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3662362"/>
            <a:ext cx="29908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Track high-level KPIs including Total Sales ($2.30M), Net Profit ($291K), and dynamic profit margins across regions and calendar periods.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575" y="3281362"/>
            <a:ext cx="314039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Product Taxonomy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0575" y="3662362"/>
            <a:ext cx="299085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Analyze merchandise metrics across Furniture, Office Supplies, and Technology to identify top-performing revenue drivers and margin leaks.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281362"/>
            <a:ext cx="314039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Customer Demographics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662362"/>
            <a:ext cx="29908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Segment purchasing behaviors across Consumer, Corporate, and Home Office client tiers to isolate high-value lifetime accounts.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709862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0575" y="2709862"/>
            <a:ext cx="4286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709862"/>
            <a:ext cx="4286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Key Strategic Objectives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1057275"/>
            <a:ext cx="11220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316956"/>
            <a:ext cx="5419725" cy="31003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16956"/>
            <a:ext cx="5419725" cy="3100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675" y="2659856"/>
            <a:ext cx="497062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Data Ingestion &amp;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659856"/>
            <a:ext cx="497062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Modeling &amp; Calculations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086100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75" y="3088481"/>
            <a:ext cx="454342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Sourcing: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Raw sales orders, metadata, regional metrics, and client profiles ingested into Power 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671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3669506"/>
            <a:ext cx="4543425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ETL Formatting: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Standardized data types, harmonized order/ship dates, and cleansed null product descriptions using Power Query.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49103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493418"/>
            <a:ext cx="454342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Deduplication: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Removed duplicate order IDs to ensure structural integrity across transactional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086100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3088481"/>
            <a:ext cx="454342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Relational Modeling: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Linked tables natively to support cross-filtering across visuals.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366712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3669506"/>
            <a:ext cx="4543425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Custom DAX Measures: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Developed formulas for Total Sales, Net Profit, Average Order Value, and cumulative running totals.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449103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9900" y="4493418"/>
            <a:ext cx="454342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Feature Engineering: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Created calculated columns for Sales Tax (10%), Custom Discount status, and revenue Tiers.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Data Methodology &amp; ETL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5775" y="1057275"/>
            <a:ext cx="11220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38262"/>
            <a:ext cx="1122045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338262"/>
            <a:ext cx="11220450" cy="5057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61962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Dashboard View: Executive Sales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5775" y="1033462"/>
            <a:ext cx="11220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06662D-308D-0DE3-E017-3AFDA7283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169" y="1371599"/>
            <a:ext cx="9316750" cy="52204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38262"/>
            <a:ext cx="1122045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338262"/>
            <a:ext cx="11220450" cy="5057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1357312"/>
            <a:ext cx="11182350" cy="4533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61962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Dashboard View: Product &amp; Performance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5775" y="1033462"/>
            <a:ext cx="11220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2FF0E8-8BAB-3832-DA79-F5F8D30EBF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603" y="1406589"/>
            <a:ext cx="9211961" cy="5220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38262"/>
            <a:ext cx="1122045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338262"/>
            <a:ext cx="11220450" cy="5057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1357312"/>
            <a:ext cx="11182350" cy="4533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61962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Dashboard View: Analytical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5775" y="1033462"/>
            <a:ext cx="11220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EB0DD1-9A1D-01AB-3C5D-C555B5FE5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121" y="1273604"/>
            <a:ext cx="9364382" cy="5220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62075"/>
            <a:ext cx="11220450" cy="5010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50" y="4719637"/>
            <a:ext cx="10172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>
                <a:solidFill>
                  <a:srgbClr val="64748B"/>
                </a:solidFill>
                <a:latin typeface="Inter"/>
              </a:rPr>
              <a:t>The West and East regions combined account for nearly 70% of total company profits ($291,228 aggregate net profit against $2.30M sales).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Regional Profit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775" y="1057275"/>
            <a:ext cx="11220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867025"/>
            <a:ext cx="5419725" cy="2000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67025"/>
            <a:ext cx="5419725" cy="2000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675" y="3209925"/>
            <a:ext cx="497062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Technology (High Yield)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3638550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Technology anchor items secure exceptionally healthy profit-to-sales ratios (~15% margin efficiency), led by top performers like the Canon ImageCLASS copier.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09925"/>
            <a:ext cx="497062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Furniture (Margin Erosion)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38550"/>
            <a:ext cx="47339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While Furniture constitutes massive sales volume (nearly 97% of its bar weight), its net profit contribution is paper-thin (3%) due to heavy discounting and freight expenses.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Product Category Profitability Dilemma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775" y="1057275"/>
            <a:ext cx="11220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62075"/>
            <a:ext cx="11220450" cy="5010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4362" y="4719637"/>
            <a:ext cx="109632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>
                <a:solidFill>
                  <a:srgbClr val="64748B"/>
                </a:solidFill>
                <a:latin typeface="Inter"/>
              </a:rPr>
              <a:t>Consumer segment acts as the foundational revenue backbone at $1.16M, while Corporate ($0.71M) and Home Office ($0.43M) maintain stable streams.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Top Customer Accounts by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775" y="1057275"/>
            <a:ext cx="11220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9150" y="2795587"/>
            <a:ext cx="108870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Mitigate Client Concentration Risk: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Launch targeted acquisition campaigns to diversify customer portfolios and reduce reliance on single-account surges.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3509962"/>
            <a:ext cx="108870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Optimize Furniture Category Margins: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Investigate root cost drivers, shipping overhead, and discount frequencies eroding profitability in the furniture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4224337"/>
            <a:ext cx="108870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334155"/>
                </a:solidFill>
                <a:latin typeface="Inter"/>
              </a:rPr>
              <a:t>Stabilize Seasonal Volatility:</a:t>
            </a:r>
            <a:r>
              <a:rPr sz="1425" b="0" i="0" u="none">
                <a:solidFill>
                  <a:srgbClr val="334155"/>
                </a:solidFill>
                <a:latin typeface="Inter"/>
              </a:rPr>
              <a:t> Structure recurring revenue offerings and off-season promotions to smooth out volatile "boom-and-bust" monthly profit cycles.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828925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543300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257675"/>
            <a:ext cx="19050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3A8A"/>
                </a:solidFill>
                <a:latin typeface="Plus Jakarta Sans"/>
              </a:rPr>
              <a:t>Strategic Business Recommendations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775" y="1057275"/>
            <a:ext cx="112204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887" y="2500312"/>
            <a:ext cx="1170622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E3A8A"/>
                </a:solidFill>
                <a:latin typeface="Plus Jakarta Sans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3452812"/>
            <a:ext cx="11220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Thank you for exploring the sales performance analysis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4129087"/>
            <a:ext cx="11220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2563EB"/>
                </a:solidFill>
                <a:latin typeface="Inter SemiBold"/>
              </a:rPr>
              <a:t>Anjali Sinha | CX-138-MOR-JUNE | Power BI BI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472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Anjali Sinha</cp:lastModifiedBy>
  <cp:revision>2</cp:revision>
  <dcterms:created xsi:type="dcterms:W3CDTF">2013-01-27T09:14:16Z</dcterms:created>
  <dcterms:modified xsi:type="dcterms:W3CDTF">2026-08-17T00:19:15Z</dcterms:modified>
  <cp:category/>
</cp:coreProperties>
</file>