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12.png"/><Relationship Id="rId8" Type="http://schemas.openxmlformats.org/officeDocument/2006/relationships/image" Target="../media/image1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82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95275" y="2348954"/>
            <a:ext cx="11601450" cy="13409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5280"/>
              </a:lnSpc>
            </a:pPr>
            <a:r>
              <a:rPr b="1" sz="4800" i="0" u="none">
                <a:solidFill>
                  <a:srgbClr val="FFFFFF"/>
                </a:solidFill>
                <a:latin typeface="Playfair Display"/>
              </a:rPr>
              <a:t>Evaluation of </a:t>
            </a:r>
            <a:r>
              <a:rPr b="1" sz="4800" i="0" u="none">
                <a:solidFill>
                  <a:srgbClr val="14B8A6"/>
                </a:solidFill>
                <a:latin typeface="Playfair Display"/>
              </a:rPr>
              <a:t>Style Advisor</a:t>
            </a:r>
            <a:r>
              <a:rPr b="1" sz="4800" i="0" u="none">
                <a:solidFill>
                  <a:srgbClr val="FFFFFF"/>
                </a:solidFill>
                <a:latin typeface="Playfair Display"/>
              </a:rPr>
              <a:t>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47875" y="3880395"/>
            <a:ext cx="8096250" cy="628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475"/>
              </a:lnSpc>
            </a:pPr>
            <a:r>
              <a:rPr b="0" sz="1650" i="0" u="none">
                <a:solidFill>
                  <a:srgbClr val="CBD5E1"/>
                </a:solidFill>
                <a:latin typeface="Plus Jakarta Sans"/>
              </a:rPr>
              <a:t>A Comprehensive Data-Driven Diagnostic Report &amp; Strategic Road Map for Excellence in Premium Retail Service Delivery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82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15000" y="2667000"/>
            <a:ext cx="762000" cy="381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5275" y="2943225"/>
            <a:ext cx="11601450" cy="714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4200" i="0" u="none">
                <a:solidFill>
                  <a:srgbClr val="FFFFFF"/>
                </a:solidFill>
                <a:latin typeface="Playfair Display"/>
              </a:rPr>
              <a:t>Strategic Context &amp;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62250" y="3800475"/>
            <a:ext cx="6667500" cy="628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475"/>
              </a:lnSpc>
            </a:pPr>
            <a:r>
              <a:rPr b="0" sz="1650" i="0" u="none">
                <a:solidFill>
                  <a:srgbClr val="CBD5E1"/>
                </a:solidFill>
                <a:latin typeface="Plus Jakarta Sans"/>
              </a:rPr>
              <a:t>Aligning retail operational standards with customer-centric excellence.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82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938337"/>
            <a:ext cx="5334000" cy="37528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1938337"/>
            <a:ext cx="5334000" cy="37528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2281237"/>
            <a:ext cx="4880610" cy="333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950" i="0" u="none">
                <a:solidFill>
                  <a:srgbClr val="14B8A6"/>
                </a:solidFill>
                <a:latin typeface="Playfair Display"/>
              </a:rPr>
              <a:t>Project Mission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29400" y="2281237"/>
            <a:ext cx="4880610" cy="333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950" i="0" u="none">
                <a:solidFill>
                  <a:srgbClr val="14B8A6"/>
                </a:solidFill>
                <a:latin typeface="Playfair Display"/>
              </a:rPr>
              <a:t>Analytical Scope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757487"/>
            <a:ext cx="441960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CBD5E1"/>
                </a:solidFill>
                <a:latin typeface="Plus Jakarta Sans"/>
              </a:rPr>
              <a:t>Evaluate multi-stage performance of Style Advisors across store audits.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405187"/>
            <a:ext cx="441960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CBD5E1"/>
                </a:solidFill>
                <a:latin typeface="Plus Jakarta Sans"/>
              </a:rPr>
              <a:t>Analyze operational metrics from store ambiance to closure.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4052887"/>
            <a:ext cx="441960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CBD5E1"/>
                </a:solidFill>
                <a:latin typeface="Plus Jakarta Sans"/>
              </a:rPr>
              <a:t>Pinpoint geographical excellence and operational performance gaps.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4700587"/>
            <a:ext cx="441960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CBD5E1"/>
                </a:solidFill>
                <a:latin typeface="Plus Jakarta Sans"/>
              </a:rPr>
              <a:t>Deliver actionable, data-backed management recommendations.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2757487"/>
            <a:ext cx="441960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CBD5E1"/>
                </a:solidFill>
                <a:latin typeface="Plus Jakarta Sans"/>
              </a:rPr>
              <a:t>Performance Grading:</a:t>
            </a:r>
            <a:r>
              <a:rPr b="0" sz="1350" i="0" u="none">
                <a:solidFill>
                  <a:srgbClr val="CBD5E1"/>
                </a:solidFill>
                <a:latin typeface="Plus Jakarta Sans"/>
              </a:rPr>
              <a:t> Multi-tier classification of advisors.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3405187"/>
            <a:ext cx="441960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CBD5E1"/>
                </a:solidFill>
                <a:latin typeface="Plus Jakarta Sans"/>
              </a:rPr>
              <a:t>Zonal Breakdown:</a:t>
            </a:r>
            <a:r>
              <a:rPr b="0" sz="1350" i="0" u="none">
                <a:solidFill>
                  <a:srgbClr val="CBD5E1"/>
                </a:solidFill>
                <a:latin typeface="Plus Jakarta Sans"/>
              </a:rPr>
              <a:t> Regional score benchmarks and comparisons.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4052887"/>
            <a:ext cx="441960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CBD5E1"/>
                </a:solidFill>
                <a:latin typeface="Plus Jakarta Sans"/>
              </a:rPr>
              <a:t>Behavioral Audit:</a:t>
            </a:r>
            <a:r>
              <a:rPr b="0" sz="1350" i="0" u="none">
                <a:solidFill>
                  <a:srgbClr val="CBD5E1"/>
                </a:solidFill>
                <a:latin typeface="Plus Jakarta Sans"/>
              </a:rPr>
              <a:t> Assessing Discovery, Trial, and Upselling gaps.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4700587"/>
            <a:ext cx="441960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CBD5E1"/>
                </a:solidFill>
                <a:latin typeface="Plus Jakarta Sans"/>
              </a:rPr>
              <a:t>Time Analytics:</a:t>
            </a:r>
            <a:r>
              <a:rPr b="0" sz="1350" i="0" u="none">
                <a:solidFill>
                  <a:srgbClr val="CBD5E1"/>
                </a:solidFill>
                <a:latin typeface="Plus Jakarta Sans"/>
              </a:rPr>
              <a:t> Tracking monthly performance fluctuations.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738437"/>
            <a:ext cx="123825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b="0" sz="1800" i="0" u="none">
                <a:solidFill>
                  <a:srgbClr val="14B8A6"/>
                </a:solidFill>
                <a:latin typeface="Plus Jakarta Sans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386137"/>
            <a:ext cx="123825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b="0" sz="1800" i="0" u="none">
                <a:solidFill>
                  <a:srgbClr val="14B8A6"/>
                </a:solidFill>
                <a:latin typeface="Plus Jakarta Sans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033837"/>
            <a:ext cx="123825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b="0" sz="1800" i="0" u="none">
                <a:solidFill>
                  <a:srgbClr val="14B8A6"/>
                </a:solidFill>
                <a:latin typeface="Plus Jakarta Sans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681537"/>
            <a:ext cx="123825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b="0" sz="1800" i="0" u="none">
                <a:solidFill>
                  <a:srgbClr val="14B8A6"/>
                </a:solidFill>
                <a:latin typeface="Plus Jakarta Sans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9400" y="2738437"/>
            <a:ext cx="123825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b="0" sz="1800" i="0" u="none">
                <a:solidFill>
                  <a:srgbClr val="14B8A6"/>
                </a:solidFill>
                <a:latin typeface="Plus Jakarta Sans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9400" y="3386137"/>
            <a:ext cx="123825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b="0" sz="1800" i="0" u="none">
                <a:solidFill>
                  <a:srgbClr val="14B8A6"/>
                </a:solidFill>
                <a:latin typeface="Plus Jakarta Sans"/>
              </a:rP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9400" y="4033837"/>
            <a:ext cx="123825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b="0" sz="1800" i="0" u="none">
                <a:solidFill>
                  <a:srgbClr val="14B8A6"/>
                </a:solidFill>
                <a:latin typeface="Plus Jakarta Sans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29400" y="4681537"/>
            <a:ext cx="123825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b="0" sz="1800" i="0" u="none">
                <a:solidFill>
                  <a:srgbClr val="14B8A6"/>
                </a:solidFill>
                <a:latin typeface="Plus Jakarta Sans"/>
              </a:rPr>
              <a:t>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4375" y="476250"/>
            <a:ext cx="11451431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850" i="0" u="none">
                <a:solidFill>
                  <a:srgbClr val="F8FAFC"/>
                </a:solidFill>
                <a:latin typeface="Playfair Display"/>
              </a:rPr>
              <a:t>Executive Project Overview &amp; Scope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71500" y="476250"/>
            <a:ext cx="38100" cy="485775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82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995487"/>
            <a:ext cx="11049000" cy="3638550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81025" y="2005012"/>
          <a:ext cx="11029947" cy="3619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1763464"/>
                <a:gridCol w="1633388"/>
                <a:gridCol w="3993653"/>
                <a:gridCol w="3639442"/>
              </a:tblGrid>
              <a:tr h="723900"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F8FAFC"/>
                          </a:solidFill>
                          <a:latin typeface="Playfair Display SemiBold"/>
                        </a:rPr>
                        <a:t>Performance Tier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A2C4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F8FAFC"/>
                          </a:solidFill>
                          <a:latin typeface="Playfair Display SemiBold"/>
                        </a:rPr>
                        <a:t>Score Parameter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A2C4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F8FAFC"/>
                          </a:solidFill>
                          <a:latin typeface="Playfair Display SemiBold"/>
                        </a:rPr>
                        <a:t>Operational Implication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A2C4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F8FAFC"/>
                          </a:solidFill>
                          <a:latin typeface="Playfair Display SemiBold"/>
                        </a:rPr>
                        <a:t>Excel Logic Formulation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A2C4E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High Performer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90% - 100%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Exceeds all service expectations; primary brand ambassador.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=IFS(C2&gt;=90, "High Performer", ...)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723900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Average Performer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70% - 89%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Meets baseline criteria; requires targeted enhancement.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=IFS(..., C2&gt;=70, "Average Performer", ...)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723900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Low Performer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50% - 69%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Struggles with advanced sales and conversion tactics.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=IFS(..., C2&gt;=50, "Low Performer", ...)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723900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Bottom Performer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Below 50%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Critical risk; requires immediate intervention or PIP.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=IFS(..., C2&lt;50, "Bottom Performer")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81025" y="2762250"/>
            <a:ext cx="1763464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344489" y="2762250"/>
            <a:ext cx="1633388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977878" y="2762250"/>
            <a:ext cx="3993653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971532" y="2762250"/>
            <a:ext cx="3639442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81025" y="3476625"/>
            <a:ext cx="1763464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344489" y="3476625"/>
            <a:ext cx="1633388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977878" y="3476625"/>
            <a:ext cx="3993653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971532" y="3476625"/>
            <a:ext cx="3639442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81025" y="4191000"/>
            <a:ext cx="1763464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344489" y="4191000"/>
            <a:ext cx="1633388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977878" y="4191000"/>
            <a:ext cx="3993653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971532" y="4191000"/>
            <a:ext cx="3639442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81025" y="4905375"/>
            <a:ext cx="1763464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344489" y="4905375"/>
            <a:ext cx="1633388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977878" y="4905375"/>
            <a:ext cx="3993653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971532" y="4905375"/>
            <a:ext cx="3639442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4375" y="476250"/>
            <a:ext cx="11451431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850" i="0" u="none">
                <a:solidFill>
                  <a:srgbClr val="F8FAFC"/>
                </a:solidFill>
                <a:latin typeface="Playfair Display"/>
              </a:rPr>
              <a:t>Performance Grading Methodology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71500" y="476250"/>
            <a:ext cx="38100" cy="485775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82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15000" y="2667000"/>
            <a:ext cx="762000" cy="381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5275" y="2943225"/>
            <a:ext cx="11601450" cy="714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4200" i="0" u="none">
                <a:solidFill>
                  <a:srgbClr val="FFFFFF"/>
                </a:solidFill>
                <a:latin typeface="Playfair Display"/>
              </a:rPr>
              <a:t>Regional Analysis &amp; Insights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62250" y="3800475"/>
            <a:ext cx="6667500" cy="628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475"/>
              </a:lnSpc>
            </a:pPr>
            <a:r>
              <a:rPr b="0" sz="1650" i="0" u="none">
                <a:solidFill>
                  <a:srgbClr val="CBD5E1"/>
                </a:solidFill>
                <a:latin typeface="Plus Jakarta Sans"/>
              </a:rPr>
              <a:t>Uncovering geographical hubs of excellence and critical areas of concern.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82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247775"/>
            <a:ext cx="11049000" cy="51339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4572000"/>
            <a:ext cx="11049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b="0" sz="1200" i="1" u="none">
                <a:solidFill>
                  <a:srgbClr val="94A3B8"/>
                </a:solidFill>
                <a:latin typeface="Plus Jakarta Sans"/>
              </a:rPr>
              <a:t>The North Zone sets the organizational benchmark at 77, while the South Zone lags behind at 67, highlighting significant regional variance in service execution.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4375" y="476250"/>
            <a:ext cx="11451431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850" i="0" u="none">
                <a:solidFill>
                  <a:srgbClr val="F8FAFC"/>
                </a:solidFill>
                <a:latin typeface="Playfair Display"/>
              </a:rPr>
              <a:t>Average Evaluation Scores by Zone</a:t>
            </a:r>
          </a:p>
        </p:txBody>
      </p:sp>
      <p:sp>
        <p:nvSpPr>
          <p:cNvPr id="6" name="Rectangle 5"/>
          <p:cNvSpPr/>
          <p:nvPr/>
        </p:nvSpPr>
        <p:spPr>
          <a:xfrm>
            <a:off x="571500" y="476250"/>
            <a:ext cx="38100" cy="485775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82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728912"/>
            <a:ext cx="3867150" cy="21717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9650" y="2366962"/>
            <a:ext cx="6800850" cy="2895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62025" y="3119437"/>
            <a:ext cx="30861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6750"/>
              </a:lnSpc>
            </a:pPr>
            <a:r>
              <a:rPr b="1" sz="6750" i="0" u="none">
                <a:solidFill>
                  <a:srgbClr val="14B8A6"/>
                </a:solidFill>
                <a:latin typeface="Playfair Display"/>
              </a:rPr>
              <a:t>60%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2025" y="4071937"/>
            <a:ext cx="30861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F8FAFC"/>
                </a:solidFill>
                <a:latin typeface="Plus Jakarta Sans SemiBold"/>
              </a:rPr>
              <a:t>Concentrated in Top 3 States</a:t>
            </a:r>
            <a:r>
              <a:t>
</a:t>
            </a:r>
            <a:r>
              <a:rPr b="0" sz="1350" i="0" u="none">
                <a:solidFill>
                  <a:srgbClr val="F8FAFC"/>
                </a:solidFill>
                <a:latin typeface="Plus Jakarta Sans SemiBold"/>
              </a:rPr>
              <a:t> (UP, Maharashtra, Tamil Nadu)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57775" y="2605087"/>
            <a:ext cx="6640830" cy="333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950" i="0" u="none">
                <a:solidFill>
                  <a:srgbClr val="14B8A6"/>
                </a:solidFill>
                <a:latin typeface="Playfair Display"/>
              </a:rPr>
              <a:t>Key Geographical Highlights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86375" y="3081337"/>
            <a:ext cx="609600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CBD5E1"/>
                </a:solidFill>
                <a:latin typeface="Plus Jakarta Sans"/>
              </a:rPr>
              <a:t>North Zone Leadership:</a:t>
            </a:r>
            <a:r>
              <a:rPr b="0" sz="1350" i="0" u="none">
                <a:solidFill>
                  <a:srgbClr val="CBD5E1"/>
                </a:solidFill>
                <a:latin typeface="Plus Jakarta Sans"/>
              </a:rPr>
              <a:t> Houses 40% of all high performers, driven predominantly by Uttar Pradesh (20%).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86375" y="3729037"/>
            <a:ext cx="609600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CBD5E1"/>
                </a:solidFill>
                <a:latin typeface="Plus Jakarta Sans"/>
              </a:rPr>
              <a:t>Regional Anchors:</a:t>
            </a:r>
            <a:r>
              <a:rPr b="0" sz="1350" i="0" u="none">
                <a:solidFill>
                  <a:srgbClr val="CBD5E1"/>
                </a:solidFill>
                <a:latin typeface="Plus Jakarta Sans"/>
              </a:rPr>
              <a:t> Maharashtra (West) and Tamil Nadu (South) each contribute 20% to the high-performer pool.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86375" y="4376737"/>
            <a:ext cx="609600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CBD5E1"/>
                </a:solidFill>
                <a:latin typeface="Plus Jakarta Sans"/>
              </a:rPr>
              <a:t>Orissa Excellence:</a:t>
            </a:r>
            <a:r>
              <a:rPr b="0" sz="1350" i="0" u="none">
                <a:solidFill>
                  <a:srgbClr val="CBD5E1"/>
                </a:solidFill>
                <a:latin typeface="Plus Jakarta Sans"/>
              </a:rPr>
              <a:t> Achieves the highest single-state quality score in the country at 94.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57775" y="3062287"/>
            <a:ext cx="123825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b="0" sz="1800" i="0" u="none">
                <a:solidFill>
                  <a:srgbClr val="14B8A6"/>
                </a:solidFill>
                <a:latin typeface="Plus Jakarta Sans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57775" y="3709987"/>
            <a:ext cx="123825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b="0" sz="1800" i="0" u="none">
                <a:solidFill>
                  <a:srgbClr val="14B8A6"/>
                </a:solidFill>
                <a:latin typeface="Plus Jakarta Sans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57775" y="4357687"/>
            <a:ext cx="123825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b="0" sz="1800" i="0" u="none">
                <a:solidFill>
                  <a:srgbClr val="14B8A6"/>
                </a:solidFill>
                <a:latin typeface="Plus Jakarta Sans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4375" y="476250"/>
            <a:ext cx="11451431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850" i="0" u="none">
                <a:solidFill>
                  <a:srgbClr val="F8FAFC"/>
                </a:solidFill>
                <a:latin typeface="Playfair Display"/>
              </a:rPr>
              <a:t>Concentration of Top Talent (High Performers)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71500" y="476250"/>
            <a:ext cx="38100" cy="485775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82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314575"/>
            <a:ext cx="3492549" cy="30003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9799" y="2314575"/>
            <a:ext cx="3492549" cy="30003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8099" y="2314575"/>
            <a:ext cx="3492549" cy="300037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66775" y="3248025"/>
            <a:ext cx="3047099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FFFFFF"/>
                </a:solidFill>
                <a:latin typeface="Playfair Display"/>
              </a:rPr>
              <a:t>Store Ambiance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6775" y="3648075"/>
            <a:ext cx="2901999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94A3B8"/>
                </a:solidFill>
                <a:latin typeface="Plus Jakarta Sans"/>
              </a:rPr>
              <a:t>High:</a:t>
            </a:r>
            <a:r>
              <a:rPr b="0" sz="1200" i="0" u="none">
                <a:solidFill>
                  <a:srgbClr val="94A3B8"/>
                </a:solidFill>
                <a:latin typeface="Plus Jakarta Sans"/>
              </a:rPr>
              <a:t> 97%</a:t>
            </a:r>
            <a:r>
              <a:t>
</a:t>
            </a:r>
            <a:r>
              <a:rPr b="1" sz="1200" i="0" u="none">
                <a:solidFill>
                  <a:srgbClr val="94A3B8"/>
                </a:solidFill>
                <a:latin typeface="Plus Jakarta Sans"/>
              </a:rPr>
              <a:t>Low:</a:t>
            </a:r>
            <a:r>
              <a:rPr b="0" sz="1200" i="0" u="none">
                <a:solidFill>
                  <a:srgbClr val="94A3B8"/>
                </a:solidFill>
                <a:latin typeface="Plus Jakarta Sans"/>
              </a:rPr>
              <a:t> 88%</a:t>
            </a:r>
            <a:r>
              <a:t>
</a:t>
            </a:r>
            <a:r>
              <a:t>
</a:t>
            </a:r>
            <a:r>
              <a:rPr b="0" sz="1200" i="0" u="none">
                <a:solidFill>
                  <a:srgbClr val="94A3B8"/>
                </a:solidFill>
                <a:latin typeface="Plus Jakarta Sans"/>
              </a:rPr>
              <a:t> Basic maintenance and operational checklists are universally well-maintained across tiers.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45074" y="3248025"/>
            <a:ext cx="3047099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FFFFFF"/>
                </a:solidFill>
                <a:latin typeface="Playfair Display"/>
              </a:rPr>
              <a:t>Discovery &amp; Needs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45074" y="3648075"/>
            <a:ext cx="2901999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94A3B8"/>
                </a:solidFill>
                <a:latin typeface="Plus Jakarta Sans"/>
              </a:rPr>
              <a:t>High:</a:t>
            </a:r>
            <a:r>
              <a:rPr b="0" sz="1200" i="0" u="none">
                <a:solidFill>
                  <a:srgbClr val="94A3B8"/>
                </a:solidFill>
                <a:latin typeface="Plus Jakarta Sans"/>
              </a:rPr>
              <a:t> 98%</a:t>
            </a:r>
            <a:r>
              <a:t>
</a:t>
            </a:r>
            <a:r>
              <a:rPr b="1" sz="1200" i="0" u="none">
                <a:solidFill>
                  <a:srgbClr val="94A3B8"/>
                </a:solidFill>
                <a:latin typeface="Plus Jakarta Sans"/>
              </a:rPr>
              <a:t>Low:</a:t>
            </a:r>
            <a:r>
              <a:rPr b="0" sz="1200" i="0" u="none">
                <a:solidFill>
                  <a:srgbClr val="94A3B8"/>
                </a:solidFill>
                <a:latin typeface="Plus Jakarta Sans"/>
              </a:rPr>
              <a:t> 53%</a:t>
            </a:r>
            <a:r>
              <a:t>
</a:t>
            </a:r>
            <a:r>
              <a:t>
</a:t>
            </a:r>
            <a:r>
              <a:rPr b="0" sz="1200" i="0" u="none">
                <a:solidFill>
                  <a:srgbClr val="94A3B8"/>
                </a:solidFill>
                <a:latin typeface="Plus Jakarta Sans"/>
              </a:rPr>
              <a:t> The single largest drop-off point. Advisors struggle with proactive, open-ended customer profiling.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23374" y="3248025"/>
            <a:ext cx="3047099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FFFFFF"/>
                </a:solidFill>
                <a:latin typeface="Playfair Display"/>
              </a:rPr>
              <a:t>Trial &amp; Upselling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23374" y="3648075"/>
            <a:ext cx="2901999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94A3B8"/>
                </a:solidFill>
                <a:latin typeface="Plus Jakarta Sans"/>
              </a:rPr>
              <a:t>High:</a:t>
            </a:r>
            <a:r>
              <a:rPr b="0" sz="1200" i="0" u="none">
                <a:solidFill>
                  <a:srgbClr val="94A3B8"/>
                </a:solidFill>
                <a:latin typeface="Plus Jakarta Sans"/>
              </a:rPr>
              <a:t> 96%</a:t>
            </a:r>
            <a:r>
              <a:t>
</a:t>
            </a:r>
            <a:r>
              <a:rPr b="1" sz="1200" i="0" u="none">
                <a:solidFill>
                  <a:srgbClr val="94A3B8"/>
                </a:solidFill>
                <a:latin typeface="Plus Jakarta Sans"/>
              </a:rPr>
              <a:t>Low:</a:t>
            </a:r>
            <a:r>
              <a:rPr b="0" sz="1200" i="0" u="none">
                <a:solidFill>
                  <a:srgbClr val="94A3B8"/>
                </a:solidFill>
                <a:latin typeface="Plus Jakarta Sans"/>
              </a:rPr>
              <a:t> 49%</a:t>
            </a:r>
            <a:r>
              <a:t>
</a:t>
            </a:r>
            <a:r>
              <a:t>
</a:t>
            </a:r>
            <a:r>
              <a:rPr b="0" sz="1200" i="0" u="none">
                <a:solidFill>
                  <a:srgbClr val="94A3B8"/>
                </a:solidFill>
                <a:latin typeface="Plus Jakarta Sans"/>
              </a:rPr>
              <a:t> Crucial conversion gap. Low performers fail to cross-sell and promote brand programs effectively.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6775" y="2667000"/>
            <a:ext cx="409575" cy="3619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45074" y="2667000"/>
            <a:ext cx="361950" cy="3619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23374" y="2667000"/>
            <a:ext cx="409575" cy="3619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14375" y="476250"/>
            <a:ext cx="11451431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850" i="0" u="none">
                <a:solidFill>
                  <a:srgbClr val="F8FAFC"/>
                </a:solidFill>
                <a:latin typeface="Playfair Display"/>
              </a:rPr>
              <a:t>Core Competency Gap: High vs. Bottom Performers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71500" y="476250"/>
            <a:ext cx="38100" cy="485775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82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15000" y="2667000"/>
            <a:ext cx="762000" cy="381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5275" y="2943225"/>
            <a:ext cx="11601450" cy="714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4200" i="0" u="none">
                <a:solidFill>
                  <a:srgbClr val="FFFFFF"/>
                </a:solidFill>
                <a:latin typeface="Playfair Display"/>
              </a:rPr>
              <a:t>Strategic Recommendations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62250" y="3800475"/>
            <a:ext cx="6667500" cy="628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475"/>
              </a:lnSpc>
            </a:pPr>
            <a:r>
              <a:rPr b="0" sz="1650" i="0" u="none">
                <a:solidFill>
                  <a:srgbClr val="CBD5E1"/>
                </a:solidFill>
                <a:latin typeface="Plus Jakarta Sans"/>
              </a:rPr>
              <a:t>Actionable initiatives to bridge gaps and scale enterprise-wide excellence.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82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457450"/>
            <a:ext cx="5334000" cy="27146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457450"/>
            <a:ext cx="5334000" cy="27146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2800350"/>
            <a:ext cx="4880610" cy="333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950" i="0" u="none">
                <a:solidFill>
                  <a:srgbClr val="14B8A6"/>
                </a:solidFill>
                <a:latin typeface="Playfair Display"/>
              </a:rPr>
              <a:t>1. Targeted Sales Enablement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29400" y="2800350"/>
            <a:ext cx="4880610" cy="333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950" i="0" u="none">
                <a:solidFill>
                  <a:srgbClr val="14B8A6"/>
                </a:solidFill>
                <a:latin typeface="Playfair Display"/>
              </a:rPr>
              <a:t>2. Centers of Excellence &amp; Mentorship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3276600"/>
            <a:ext cx="441960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CBD5E1"/>
                </a:solidFill>
                <a:latin typeface="Plus Jakarta Sans"/>
              </a:rPr>
              <a:t>Implement scenario-based role-play modules focused entirely on </a:t>
            </a:r>
            <a:r>
              <a:rPr b="1" sz="1350" i="0" u="none">
                <a:solidFill>
                  <a:srgbClr val="CBD5E1"/>
                </a:solidFill>
                <a:latin typeface="Plus Jakarta Sans"/>
              </a:rPr>
              <a:t>Discovery</a:t>
            </a:r>
            <a:r>
              <a:rPr b="0" sz="1350" i="0" u="none">
                <a:solidFill>
                  <a:srgbClr val="CBD5E1"/>
                </a:solidFill>
                <a:latin typeface="Plus Jakarta Sans"/>
              </a:rPr>
              <a:t> and </a:t>
            </a:r>
            <a:r>
              <a:rPr b="1" sz="1350" i="0" u="none">
                <a:solidFill>
                  <a:srgbClr val="CBD5E1"/>
                </a:solidFill>
                <a:latin typeface="Plus Jakarta Sans"/>
              </a:rPr>
              <a:t>Objection Handling</a:t>
            </a:r>
            <a:r>
              <a:rPr b="0" sz="1350" i="0" u="none">
                <a:solidFill>
                  <a:srgbClr val="CBD5E1"/>
                </a:solidFill>
                <a:latin typeface="Plus Jakarta Sans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924300"/>
            <a:ext cx="441960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CBD5E1"/>
                </a:solidFill>
                <a:latin typeface="Plus Jakarta Sans"/>
              </a:rPr>
              <a:t>Move teams beyond transactional greetings into solution-oriented styling conversations.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3276600"/>
            <a:ext cx="4419600" cy="771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CBD5E1"/>
                </a:solidFill>
                <a:latin typeface="Plus Jakarta Sans"/>
              </a:rPr>
              <a:t>Establish peer-shadowing programs pairing struggling branches (e.g., Assam, MP) with top hubs in UP and Orissa.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4181475"/>
            <a:ext cx="441960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CBD5E1"/>
                </a:solidFill>
                <a:latin typeface="Plus Jakarta Sans"/>
              </a:rPr>
              <a:t>Deploy 2-week virtual mentorship sprints to humanize high-score behaviors.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257550"/>
            <a:ext cx="123825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b="0" sz="1800" i="0" u="none">
                <a:solidFill>
                  <a:srgbClr val="14B8A6"/>
                </a:solidFill>
                <a:latin typeface="Plus Jakarta Sans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905250"/>
            <a:ext cx="123825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b="0" sz="1800" i="0" u="none">
                <a:solidFill>
                  <a:srgbClr val="14B8A6"/>
                </a:solidFill>
                <a:latin typeface="Plus Jakarta Sans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3257550"/>
            <a:ext cx="123825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b="0" sz="1800" i="0" u="none">
                <a:solidFill>
                  <a:srgbClr val="14B8A6"/>
                </a:solidFill>
                <a:latin typeface="Plus Jakarta Sans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4162425"/>
            <a:ext cx="123825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b="0" sz="1800" i="0" u="none">
                <a:solidFill>
                  <a:srgbClr val="14B8A6"/>
                </a:solidFill>
                <a:latin typeface="Plus Jakarta Sans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4375" y="476250"/>
            <a:ext cx="11451431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850" i="0" u="none">
                <a:solidFill>
                  <a:srgbClr val="F8FAFC"/>
                </a:solidFill>
                <a:latin typeface="Playfair Display"/>
              </a:rPr>
              <a:t>Roadmap for Operational Transformation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71500" y="476250"/>
            <a:ext cx="38100" cy="485775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82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457450"/>
            <a:ext cx="5334000" cy="27146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457450"/>
            <a:ext cx="5334000" cy="27146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2800350"/>
            <a:ext cx="4880610" cy="333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950" i="0" u="none">
                <a:solidFill>
                  <a:srgbClr val="14B8A6"/>
                </a:solidFill>
                <a:latin typeface="Playfair Display"/>
              </a:rPr>
              <a:t>Audit Zero-Score Outliers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29400" y="2800350"/>
            <a:ext cx="4880610" cy="333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950" i="0" u="none">
                <a:solidFill>
                  <a:srgbClr val="14B8A6"/>
                </a:solidFill>
                <a:latin typeface="Playfair Display"/>
              </a:rPr>
              <a:t>Just-in-Time Micro-Learning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3276600"/>
            <a:ext cx="4419600" cy="771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CBD5E1"/>
                </a:solidFill>
                <a:latin typeface="Plus Jakarta Sans"/>
              </a:rPr>
              <a:t>Conduct immediate root-cause audits for advisors maintaining pristine store ambiance scores but logging a </a:t>
            </a:r>
            <a:r>
              <a:rPr b="1" sz="1350" i="0" u="none">
                <a:solidFill>
                  <a:srgbClr val="CBD5E1"/>
                </a:solidFill>
                <a:latin typeface="Plus Jakarta Sans"/>
              </a:rPr>
              <a:t>0 overall experience</a:t>
            </a:r>
            <a:r>
              <a:rPr b="0" sz="1350" i="0" u="none">
                <a:solidFill>
                  <a:srgbClr val="CBD5E1"/>
                </a:solidFill>
                <a:latin typeface="Plus Jakarta Sans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4181475"/>
            <a:ext cx="441960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CBD5E1"/>
                </a:solidFill>
                <a:latin typeface="Plus Jakarta Sans"/>
              </a:rPr>
              <a:t>Address critical behavioral deal-breakers or attendance gaps through structured PIPs.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3276600"/>
            <a:ext cx="4419600" cy="771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CBD5E1"/>
                </a:solidFill>
                <a:latin typeface="Plus Jakarta Sans"/>
              </a:rPr>
              <a:t>Combat monthly performance volatility (notably mid-month troughs around October 20th) via in-store tablet refreshers.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4181475"/>
            <a:ext cx="441960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CBD5E1"/>
                </a:solidFill>
                <a:latin typeface="Plus Jakarta Sans"/>
              </a:rPr>
              <a:t>Sustain engagement through proactive support before fatigue sets in.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257550"/>
            <a:ext cx="123825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b="0" sz="1800" i="0" u="none">
                <a:solidFill>
                  <a:srgbClr val="14B8A6"/>
                </a:solidFill>
                <a:latin typeface="Plus Jakarta Sans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162425"/>
            <a:ext cx="123825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b="0" sz="1800" i="0" u="none">
                <a:solidFill>
                  <a:srgbClr val="14B8A6"/>
                </a:solidFill>
                <a:latin typeface="Plus Jakarta Sans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3257550"/>
            <a:ext cx="123825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b="0" sz="1800" i="0" u="none">
                <a:solidFill>
                  <a:srgbClr val="14B8A6"/>
                </a:solidFill>
                <a:latin typeface="Plus Jakarta Sans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4162425"/>
            <a:ext cx="123825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b="0" sz="1800" i="0" u="none">
                <a:solidFill>
                  <a:srgbClr val="14B8A6"/>
                </a:solidFill>
                <a:latin typeface="Plus Jakarta Sans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4375" y="476250"/>
            <a:ext cx="11451431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850" i="0" u="none">
                <a:solidFill>
                  <a:srgbClr val="F8FAFC"/>
                </a:solidFill>
                <a:latin typeface="Playfair Display"/>
              </a:rPr>
              <a:t>Immediate Management Interventions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71500" y="476250"/>
            <a:ext cx="38100" cy="485775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82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95275" y="2466975"/>
            <a:ext cx="1160145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5400" i="0" u="none">
                <a:solidFill>
                  <a:srgbClr val="FFFFFF"/>
                </a:solidFill>
                <a:latin typeface="Playfair Display"/>
              </a:rPr>
              <a:t>Questions &amp; 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3571875"/>
            <a:ext cx="11049000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475"/>
              </a:lnSpc>
            </a:pPr>
            <a:r>
              <a:rPr b="0" sz="1650" i="0" u="none">
                <a:solidFill>
                  <a:srgbClr val="CBD5E1"/>
                </a:solidFill>
                <a:latin typeface="Plus Jakarta Sans"/>
              </a:rPr>
              <a:t>Thank you for your attention. Let's elevate customer experience together.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4171950"/>
            <a:ext cx="11049000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14B8A6"/>
                </a:solidFill>
                <a:latin typeface="Plus Jakarta Sans SemiBold"/>
              </a:rPr>
              <a:t>Project: Style Advisor Performance Audit | CX-138-MOR-JUNE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